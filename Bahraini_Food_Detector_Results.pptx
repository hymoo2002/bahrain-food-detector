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A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659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200" b="1" i="0">
                <a:solidFill>
                  <a:srgbClr val="FBF6EF"/>
                </a:solidFill>
                <a:latin typeface="Cambria"/>
              </a:rPr>
              <a:t>Bahraini Food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004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1">
                <a:solidFill>
                  <a:srgbClr val="E7D9C7"/>
                </a:solidFill>
                <a:latin typeface="Calibri"/>
              </a:rPr>
              <a:t>Teaching an AI to see local cuisine  —  YOLO26 object detection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4114800"/>
            <a:ext cx="4754880" cy="27432"/>
          </a:xfrm>
          <a:prstGeom prst="roundRect">
            <a:avLst>
              <a:gd name="adj" fmla="val 1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E7D9C7"/>
                </a:solidFill>
                <a:latin typeface="Calibri"/>
              </a:rPr>
              <a:t>10 Bahraini dishes   ·   397 labelled images   ·   fine-tuned YOLO26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C9A99A"/>
                </a:solidFill>
                <a:latin typeface="Calibri"/>
              </a:rPr>
              <a:t>Object Detection Lab  —  results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Name the dish from a photo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2B2320"/>
                </a:solidFill>
                <a:latin typeface="Calibri"/>
              </a:rPr>
              <a:t>A tourist photographs a meal — the model finds and labels the local Bahraini dishes, live.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800" b="0" i="0">
                <a:solidFill>
                  <a:srgbClr val="2B2320"/>
                </a:solidFill>
                <a:latin typeface="Calibri"/>
              </a:rPr>
              <a:t/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1" i="0">
                <a:solidFill>
                  <a:srgbClr val="B4472E"/>
                </a:solidFill>
                <a:latin typeface="Calibri"/>
              </a:rPr>
              <a:t>Built end-to-end:   collect → label → fine-tune → evaluate → find failures → improve → 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4612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1">
                <a:solidFill>
                  <a:srgbClr val="8A7E76"/>
                </a:solidFill>
                <a:latin typeface="Calibri"/>
              </a:rPr>
              <a:t>The challenge: many dishes look alike (Nakhi vs Luqaimat), plates hold several items, and there was no ready-made dataset — it was built from scratch.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THE 10 CLASSES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526280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44568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Luqaimat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9504" y="4526280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9504" y="4544568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Kebab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8928" y="4526280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4544568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Fried Fish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88352" y="4526280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88352" y="4544568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Balaleet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37776" y="4526280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37776" y="4544568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Nakhi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294376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312664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Mattai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9504" y="5294376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9504" y="5312664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Samboosa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38928" y="5294376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38928" y="5312664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Machboos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88352" y="5294376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88352" y="5312664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Halwa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37776" y="5294376"/>
            <a:ext cx="2084831" cy="566928"/>
          </a:xfrm>
          <a:prstGeom prst="roundRect">
            <a:avLst>
              <a:gd name="adj" fmla="val 28000"/>
            </a:avLst>
          </a:prstGeom>
          <a:solidFill>
            <a:srgbClr val="F1E4D6"/>
          </a:solidFill>
          <a:ln w="12700">
            <a:solidFill>
              <a:srgbClr val="E1C9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37776" y="5312664"/>
            <a:ext cx="2084831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50" b="1" i="0">
                <a:solidFill>
                  <a:srgbClr val="5A1E1B"/>
                </a:solidFill>
                <a:latin typeface="Calibri"/>
              </a:rPr>
              <a:t>Harees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DATASET &amp;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Built from scratch, trained on our own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3383280" cy="1554480"/>
          </a:xfrm>
          <a:prstGeom prst="roundRect">
            <a:avLst>
              <a:gd name="adj" fmla="val 7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B4472E"/>
                </a:solidFill>
                <a:latin typeface="Cambria"/>
              </a:rPr>
              <a:t>397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2608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7E76"/>
                </a:solidFill>
                <a:latin typeface="Calibri"/>
              </a:rPr>
              <a:t>original images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874519"/>
            <a:ext cx="3383280" cy="1554480"/>
          </a:xfrm>
          <a:prstGeom prst="roundRect">
            <a:avLst>
              <a:gd name="adj" fmla="val 7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201168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B4472E"/>
                </a:solidFill>
                <a:latin typeface="Cambria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92608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7E76"/>
                </a:solidFill>
                <a:latin typeface="Calibri"/>
              </a:rPr>
              <a:t>dish classes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874519"/>
            <a:ext cx="3383280" cy="1554480"/>
          </a:xfrm>
          <a:prstGeom prst="roundRect">
            <a:avLst>
              <a:gd name="adj" fmla="val 7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9" y="2011680"/>
            <a:ext cx="3383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B4472E"/>
                </a:solidFill>
                <a:latin typeface="Cambria"/>
              </a:rPr>
              <a:t>70/20/10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9" y="2926080"/>
            <a:ext cx="3383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8A7E76"/>
                </a:solidFill>
                <a:latin typeface="Calibri"/>
              </a:rPr>
              <a:t>train / val / 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 i="0">
                <a:solidFill>
                  <a:srgbClr val="5A1E1B"/>
                </a:solidFill>
                <a:latin typeface="Cambria"/>
              </a:rPr>
              <a:t>Collection &amp; labelling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50" b="0" i="0">
                <a:solidFill>
                  <a:srgbClr val="2B2320"/>
                </a:solidFill>
                <a:latin typeface="Calibri"/>
              </a:rPr>
              <a:t>Photos gathered across plates, angles and lighting, then bounding-boxed in Roboflow.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700" b="0" i="0">
                <a:solidFill>
                  <a:srgbClr val="2B2320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 i="0">
                <a:solidFill>
                  <a:srgbClr val="5A1E1B"/>
                </a:solidFill>
                <a:latin typeface="Cambria"/>
              </a:rPr>
              <a:t>Training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50" b="0" i="0">
                <a:solidFill>
                  <a:srgbClr val="2B2320"/>
                </a:solidFill>
                <a:latin typeface="Calibri"/>
              </a:rPr>
              <a:t>YOLO26 fine-tuned from COCO-pretrained weights — augmentation on the training set only,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50" b="0" i="0">
                <a:solidFill>
                  <a:srgbClr val="2B2320"/>
                </a:solidFill>
                <a:latin typeface="Calibri"/>
              </a:rPr>
              <a:t>with a completely unseen test set kept aside for the final scores below.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RESULTS — UNSEEN TEST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Strong out of the box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9427" y="173736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5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9427" y="1847088"/>
            <a:ext cx="26517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6E8B5A"/>
                </a:solidFill>
                <a:latin typeface="Cambria"/>
              </a:rPr>
              <a:t>0.93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427" y="281635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320"/>
                </a:solidFill>
                <a:latin typeface="Calibri"/>
              </a:rPr>
              <a:t>mAP@50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29787" y="173736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5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29787" y="1847088"/>
            <a:ext cx="26517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D2922B"/>
                </a:solidFill>
                <a:latin typeface="Cambria"/>
              </a:rPr>
              <a:t>0.69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29787" y="281635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320"/>
                </a:solidFill>
                <a:latin typeface="Calibri"/>
              </a:rPr>
              <a:t>mAP@50-95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73736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5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0147" y="1847088"/>
            <a:ext cx="26517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6E8B5A"/>
                </a:solidFill>
                <a:latin typeface="Cambria"/>
              </a:rPr>
              <a:t>0.91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0147" y="281635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320"/>
                </a:solidFill>
                <a:latin typeface="Calibri"/>
              </a:rPr>
              <a:t>Recall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0507" y="173736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F5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0507" y="1847088"/>
            <a:ext cx="26517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4600" b="1" i="0">
                <a:solidFill>
                  <a:srgbClr val="B4472E"/>
                </a:solidFill>
                <a:latin typeface="Cambria"/>
              </a:rPr>
              <a:t>0.74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0507" y="2816352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320"/>
                </a:solidFill>
                <a:latin typeface="Calibri"/>
              </a:rPr>
              <a:t>Precision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520440"/>
            <a:ext cx="10908792" cy="1325880"/>
          </a:xfrm>
          <a:prstGeom prst="roundRect">
            <a:avLst>
              <a:gd name="adj" fmla="val 6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39312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1" i="0">
                <a:solidFill>
                  <a:srgbClr val="B4472E"/>
                </a:solidFill>
                <a:latin typeface="Calibri"/>
              </a:rPr>
              <a:t>WHAT THE SHORTCUTS MEAN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60"/>
            <a:ext cx="539496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mAP = mean Average Precision — overall detection score (0–1).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IoU = overlap between a predicted box and the true box.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02336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@50 = boxes overlap ≥ 50%;  @50–95 = averaged 50–95%.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Recall = real dishes found.   Precision = detections correct.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02920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 i="0">
                <a:solidFill>
                  <a:srgbClr val="B4472E"/>
                </a:solidFill>
                <a:latin typeface="Calibri"/>
              </a:rPr>
              <a:t>In short: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0" i="0">
                <a:solidFill>
                  <a:srgbClr val="2B2320"/>
                </a:solidFill>
                <a:latin typeface="Calibri"/>
              </a:rPr>
              <a:t>the detector finds ~91% of the dishes and localizes them well (mAP@50 0.93) on photos it never saw.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50" b="0" i="1">
                <a:solidFill>
                  <a:srgbClr val="8A7E76"/>
                </a:solidFill>
                <a:latin typeface="Calibri"/>
              </a:rPr>
              <a:t>Averaged across all 10 classes on the held-out test set.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PER-CLASS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Some dishes are easier than others</a:t>
            </a:r>
          </a:p>
        </p:txBody>
      </p:sp>
      <p:pic>
        <p:nvPicPr>
          <p:cNvPr id="5" name="Picture 4" descr="chart_per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6456089" cy="42062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1920240"/>
            <a:ext cx="4251960" cy="4114800"/>
          </a:xfrm>
          <a:prstGeom prst="roundRect">
            <a:avLst>
              <a:gd name="adj" fmla="val 6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0" y="2148840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READING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2606040"/>
            <a:ext cx="3749039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50" b="1" i="0">
                <a:solidFill>
                  <a:srgbClr val="5A1E1B"/>
                </a:solidFill>
                <a:latin typeface="Calibri"/>
              </a:rPr>
              <a:t>Easiest – Harees, Halwa, Machboos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2B2320"/>
                </a:solidFill>
                <a:latin typeface="Calibri"/>
              </a:rPr>
              <a:t>distinct colour &amp; texture, near-perfect boxes.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 i="0">
                <a:solidFill>
                  <a:srgbClr val="2B2320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550" b="1" i="0">
                <a:solidFill>
                  <a:srgbClr val="5A1E1B"/>
                </a:solidFill>
                <a:latin typeface="Calibri"/>
              </a:rPr>
              <a:t>Hardest – Kebab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0" i="0">
                <a:solidFill>
                  <a:srgbClr val="2B2320"/>
                </a:solidFill>
                <a:latin typeface="Calibri"/>
              </a:rPr>
              <a:t>varied shapes and often several pieces, so boxes are looser (lowest mAP@50, 0.70).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800" b="0" i="0">
                <a:solidFill>
                  <a:srgbClr val="2B2320"/>
                </a:solidFill>
                <a:latin typeface="Calibri"/>
              </a:rPr>
              <a:t/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1" i="0">
                <a:solidFill>
                  <a:srgbClr val="6E8B5A"/>
                </a:solidFill>
                <a:latin typeface="Calibri"/>
              </a:rPr>
              <a:t>Every class clears mAP@50 ≥ 0.70.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WHERE IT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12 documented failure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FAILURE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548640" cy="457200"/>
          </a:xfrm>
          <a:prstGeom prst="roundRect">
            <a:avLst>
              <a:gd name="adj" fmla="val 25000"/>
            </a:avLst>
          </a:prstGeom>
          <a:solidFill>
            <a:srgbClr val="5A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548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BF6EF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304288"/>
            <a:ext cx="4754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B2320"/>
                </a:solidFill>
                <a:latin typeface="Calibri"/>
              </a:rPr>
              <a:t>Missed items (false negative)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89504"/>
            <a:ext cx="548640" cy="457200"/>
          </a:xfrm>
          <a:prstGeom prst="roundRect">
            <a:avLst>
              <a:gd name="adj" fmla="val 25000"/>
            </a:avLst>
          </a:prstGeom>
          <a:solidFill>
            <a:srgbClr val="5A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07792"/>
            <a:ext cx="548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BF6E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07792"/>
            <a:ext cx="4754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B2320"/>
                </a:solidFill>
                <a:latin typeface="Calibri"/>
              </a:rPr>
              <a:t>Wrong class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493008"/>
            <a:ext cx="548640" cy="457200"/>
          </a:xfrm>
          <a:prstGeom prst="roundRect">
            <a:avLst>
              <a:gd name="adj" fmla="val 25000"/>
            </a:avLst>
          </a:prstGeom>
          <a:solidFill>
            <a:srgbClr val="5A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511296"/>
            <a:ext cx="548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BF6E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511296"/>
            <a:ext cx="4754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B2320"/>
                </a:solidFill>
                <a:latin typeface="Calibri"/>
              </a:rPr>
              <a:t>Loose box (poor localization)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96512"/>
            <a:ext cx="548640" cy="457200"/>
          </a:xfrm>
          <a:prstGeom prst="roundRect">
            <a:avLst>
              <a:gd name="adj" fmla="val 25000"/>
            </a:avLst>
          </a:prstGeom>
          <a:solidFill>
            <a:srgbClr val="5A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54864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700" b="1" i="0">
                <a:solidFill>
                  <a:srgbClr val="FBF6E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114800"/>
            <a:ext cx="475488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0">
                <a:solidFill>
                  <a:srgbClr val="2B2320"/>
                </a:solidFill>
                <a:latin typeface="Calibri"/>
              </a:rPr>
              <a:t>False alarm (false positive)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92040"/>
            <a:ext cx="557784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50" b="1" i="0">
                <a:solidFill>
                  <a:srgbClr val="B4472E"/>
                </a:solidFill>
                <a:latin typeface="Calibri"/>
              </a:rPr>
              <a:t>The pattern: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2B2320"/>
                </a:solidFill>
                <a:latin typeface="Calibri"/>
              </a:rPr>
              <a:t>most misses are extra pieces on a crowded plate, plus the occasional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i="0">
                <a:solidFill>
                  <a:srgbClr val="2B2320"/>
                </a:solidFill>
                <a:latin typeface="Calibri"/>
              </a:rPr>
              <a:t>Nakhi ↔ Luqaimat mix-up — two visually similar dishes.</a:t>
            </a:r>
          </a:p>
        </p:txBody>
      </p:sp>
      <p:pic>
        <p:nvPicPr>
          <p:cNvPr id="19" name="Picture 18" descr="Screenshot-2026-08-12-170104_jpg.rf.0367997814689e4fb68f135f91e27c9e__false_neg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68880"/>
            <a:ext cx="5486400" cy="2286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00800" y="489204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150" b="0" i="1">
                <a:solidFill>
                  <a:srgbClr val="8A7E76"/>
                </a:solidFill>
                <a:latin typeface="Calibri"/>
              </a:rPr>
              <a:t>Ground truth (left) vs prediction (right): missed pieces on a crowded plate.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NEXT ROUND (V2)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Let the failures decide the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10881360" cy="1005840"/>
          </a:xfrm>
          <a:prstGeom prst="roundRect">
            <a:avLst>
              <a:gd name="adj" fmla="val 10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6712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85415"/>
            <a:ext cx="60350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084831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5A1E1B"/>
                </a:solidFill>
                <a:latin typeface="Cambria"/>
              </a:rPr>
              <a:t>Crowded / multi-item plates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496312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2B2320"/>
                </a:solidFill>
                <a:latin typeface="Calibri"/>
              </a:rPr>
              <a:t>fixes the missed pieces (the #1 failure)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36391"/>
            <a:ext cx="10881360" cy="1005840"/>
          </a:xfrm>
          <a:prstGeom prst="roundRect">
            <a:avLst>
              <a:gd name="adj" fmla="val 10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3375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355848"/>
            <a:ext cx="60350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255263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5A1E1B"/>
                </a:solidFill>
                <a:latin typeface="Cambria"/>
              </a:rPr>
              <a:t>More Nakhi &amp; Luqaimat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3666744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2B2320"/>
                </a:solidFill>
                <a:latin typeface="Calibri"/>
              </a:rPr>
              <a:t>clearer, balanced examples to end the mix-ups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306824"/>
            <a:ext cx="10881360" cy="1005840"/>
          </a:xfrm>
          <a:prstGeom prst="roundRect">
            <a:avLst>
              <a:gd name="adj" fmla="val 10000"/>
            </a:avLst>
          </a:prstGeom>
          <a:solidFill>
            <a:srgbClr val="F1E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2960" y="450799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26280"/>
            <a:ext cx="60350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442569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5A1E1B"/>
                </a:solidFill>
                <a:latin typeface="Cambria"/>
              </a:rPr>
              <a:t>More Kebab variety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4837176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2B2320"/>
                </a:solidFill>
                <a:latin typeface="Calibri"/>
              </a:rPr>
              <a:t>different shapes &amp; servings to tighten its boxes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2B2320"/>
                </a:solidFill>
                <a:latin typeface="Calibri"/>
              </a:rPr>
              <a:t>Then: re-label as Roboflow v2  →  retrain  →  compare v1 vs v2.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9963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1">
                <a:solidFill>
                  <a:srgbClr val="8A7E76"/>
                </a:solidFill>
                <a:latin typeface="Calibri"/>
              </a:rPr>
              <a:t>v1 is complete; this targeted second collection is the next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B4472E"/>
                </a:solidFill>
                <a:latin typeface="Calibri"/>
              </a:rPr>
              <a:t>REFLECTION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400" b="1" i="0">
                <a:solidFill>
                  <a:srgbClr val="5A1E1B"/>
                </a:solidFill>
                <a:latin typeface="Cambria"/>
              </a:rPr>
              <a:t>What we learned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Easiest class?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Harees / Halwa / Machboos — bold colour, single clear portion (mAP@50-95 ≈ 0.99).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953512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Hardest class?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Kebab — varied shapes, often several pieces, resembles other grilled meat (mAP@50 0.70).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23944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Did more images always help?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To be measured in the v2 round — diverse data matters more than sheer 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294376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Most useful variation?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Varied plates, angles &amp; lighting — the model reaches 0.91 recall on unseen photos.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783080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Most common failure mode?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False negatives — missing extra pieces on crowded, multi-item plates.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953512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Overfit to a plate / camera?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No severe overfit — strong unseen-test scores; watch classes from similar screenshots.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4123944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One more day of data?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Crowded plates, more Nakhi &amp; Luqaimat, and more Kebab variety.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5294376"/>
            <a:ext cx="5440680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350" b="1" i="0">
                <a:solidFill>
                  <a:srgbClr val="5A1E1B"/>
                </a:solidFill>
                <a:latin typeface="Cambria"/>
              </a:rPr>
              <a:t>Before real deployment?</a:t>
            </a:r>
          </a:p>
          <a:p>
            <a:pPr algn="l">
              <a:lnSpc>
                <a:spcPct val="108000"/>
              </a:lnSpc>
              <a:spcAft>
                <a:spcPts val="300"/>
              </a:spcAft>
            </a:pPr>
            <a:r>
              <a:rPr sz="1200" b="0" i="0">
                <a:solidFill>
                  <a:srgbClr val="2B2320"/>
                </a:solidFill>
                <a:latin typeface="Calibri"/>
              </a:rPr>
              <a:t>More real-world phones &amp; lighting, tune the confidence threshold, add a user-feedback loop.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A1E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800" b="1" i="0">
                <a:solidFill>
                  <a:srgbClr val="FBF6EF"/>
                </a:solidFill>
                <a:latin typeface="Cambria"/>
              </a:rPr>
              <a:t>Demo &amp; takeaways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554480"/>
            <a:ext cx="3291840" cy="27432"/>
          </a:xfrm>
          <a:prstGeom prst="roundRect">
            <a:avLst>
              <a:gd name="adj" fmla="val 1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E7D9C7"/>
                </a:solidFill>
                <a:latin typeface="Calibri"/>
              </a:rPr>
              <a:t>Live demo:  a Streamlit web app (upload a photo) and a webcam notebook that boxes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800" b="0" i="0">
                <a:solidFill>
                  <a:srgbClr val="E7D9C7"/>
                </a:solidFill>
                <a:latin typeface="Calibri"/>
              </a:rPr>
              <a:t>Bahraini dishes in real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3383280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255264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BF6EF"/>
                </a:solidFill>
                <a:latin typeface="Cambria"/>
              </a:rPr>
              <a:t>Built the full CV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365760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C9A99A"/>
                </a:solidFill>
                <a:latin typeface="Calibri"/>
              </a:rPr>
              <a:t>collect → label → fine-tune → evaluate → improve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4297680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17320" y="4169664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BF6EF"/>
                </a:solidFill>
                <a:latin typeface="Cambria"/>
              </a:rPr>
              <a:t>Strong v1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457200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C9A99A"/>
                </a:solidFill>
                <a:latin typeface="Calibri"/>
              </a:rPr>
              <a:t>mAP@50 0.93, recall 0.91 on unseen Bahraini food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5212080"/>
            <a:ext cx="329184" cy="329184"/>
          </a:xfrm>
          <a:prstGeom prst="roundRect">
            <a:avLst>
              <a:gd name="adj" fmla="val 50000"/>
            </a:avLst>
          </a:prstGeom>
          <a:solidFill>
            <a:srgbClr val="D292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5084064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FBF6EF"/>
                </a:solidFill>
                <a:latin typeface="Cambria"/>
              </a:rPr>
              <a:t>Failures point the 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548640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50" b="0" i="0">
                <a:solidFill>
                  <a:srgbClr val="C9A99A"/>
                </a:solidFill>
                <a:latin typeface="Calibri"/>
              </a:rPr>
              <a:t>misses on crowded plates → clear plan for 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50" b="0" i="1">
                <a:solidFill>
                  <a:srgbClr val="C9A99A"/>
                </a:solidFill>
                <a:latin typeface="Calibri"/>
              </a:rPr>
              <a:t>github.com/hymoo2002/Bahrain-Food-Detector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
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 i="0">
                <a:solidFill>
                  <a:srgbClr val="FBF6EF"/>
                </a:solidFill>
                <a:latin typeface="Cambria"/>
              </a:rPr>
              <a:t>Bahraini Food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1">
                <a:solidFill>
                  <a:srgbClr val="E7D9C7"/>
                </a:solidFill>
                <a:latin typeface="Calibri"/>
              </a:rPr>
              <a:t>Teaching an AI to see local cuisine  —  YOLO26 object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114800"/>
            <a:ext cx="4754880" cy="27432"/>
          </a:xfrm>
          <a:prstGeom prst="roundRect">
            <a:avLst>
              <a:gd name="adj" fmla="val 1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E7D9C7"/>
                </a:solidFill>
                <a:latin typeface="Calibri"/>
              </a:rPr>
              <a:t>10 Bahraini dishes   ·   527 labelled images   ·   fine-tuned YOLO26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9A99A"/>
                </a:solidFill>
                <a:latin typeface="Calibri"/>
              </a:rPr>
              <a:t>Object Detection Lab  —  results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Name the dish from a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2B2320"/>
                </a:solidFill>
                <a:latin typeface="Calibri"/>
              </a:rPr>
              <a:t>A tourist photographs a meal — the model finds and labels the local Bahraini dishes, live.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endParaRPr sz="180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B4472E"/>
                </a:solidFill>
                <a:latin typeface="Calibri"/>
              </a:rPr>
              <a:t>Built end-to-end:   collect → label → fine-tune → evaluate → find failures → improve →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1">
                <a:solidFill>
                  <a:srgbClr val="8A7E76"/>
                </a:solidFill>
                <a:latin typeface="Calibri"/>
              </a:rPr>
              <a:t>The challenge: many dishes look alike (Nakhi vs Luqaimat), plates hold several items, and there was no ready-made dataset — it was built from scratch.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THE 10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Luqaimat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9504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9504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Kebab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38928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Fried Fish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88352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88352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Balaleet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37776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37776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Nakhi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Mattai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89504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Samboosa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38928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Machboos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88352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88352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Halwa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37776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37776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Harees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DATASET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Built from scratch, trained on our own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527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original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dish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70/20/10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train / val /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Collection &amp; labelling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Photos gathered across plates, angles and lighting, then bounding-boxed in Roboflow.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sz="155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Training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YOLO26 fine-tuned on our own labelled dataset — augmentation on the training set only,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with a completely unseen test set kept aside for the final scores below.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RESULTS — UNSEEN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Strong out of the box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42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942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6E8B5A"/>
                </a:solidFill>
                <a:latin typeface="Cambria"/>
              </a:rPr>
              <a:t>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42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mAP@50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978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2978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D2922B"/>
                </a:solidFill>
                <a:latin typeface="Cambria"/>
              </a:rPr>
              <a:t>0.69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978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mAP@50-95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014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6E8B5A"/>
                </a:solidFill>
                <a:latin typeface="Cambria"/>
              </a:rPr>
              <a:t>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050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9050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B4472E"/>
                </a:solidFill>
                <a:latin typeface="Cambria"/>
              </a:rPr>
              <a:t>0.74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050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10908792" cy="1325880"/>
          </a:xfrm>
          <a:prstGeom prst="roundRect">
            <a:avLst>
              <a:gd name="adj" fmla="val 6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63931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B4472E"/>
                </a:solidFill>
                <a:latin typeface="Calibri"/>
              </a:rPr>
              <a:t>WHAT THE SHORTCUTS MEAN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60"/>
            <a:ext cx="5394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mAP = mean Average Precision — overall detection score (0–1).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IoU = overlap between a predicted box and the true box.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2336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@50 = boxes overlap ≥ 50%;  @50–95 = averaged 50–95%.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Recall = real dishes found.   Precision = detections correct.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B4472E"/>
                </a:solidFill>
                <a:latin typeface="Calibri"/>
              </a:rPr>
              <a:t>In short: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0" i="0">
                <a:solidFill>
                  <a:srgbClr val="2B2320"/>
                </a:solidFill>
                <a:latin typeface="Calibri"/>
              </a:rPr>
              <a:t>the detector finds ~91% of the dishes and localizes them well (mAP@50 0.93) on photos it never saw.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1">
                <a:solidFill>
                  <a:srgbClr val="8A7E76"/>
                </a:solidFill>
                <a:latin typeface="Calibri"/>
              </a:rPr>
              <a:t>Averaged across all 10 classes on the held-out test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PER-CLASS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Some dishes are easier than others</a:t>
            </a:r>
          </a:p>
        </p:txBody>
      </p:sp>
      <p:pic>
        <p:nvPicPr>
          <p:cNvPr id="5" name="Picture 4" descr="chart_per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456089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920240"/>
            <a:ext cx="4251960" cy="4114800"/>
          </a:xfrm>
          <a:prstGeom prst="roundRect">
            <a:avLst>
              <a:gd name="adj" fmla="val 6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0" y="21488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READING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606040"/>
            <a:ext cx="3749039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1" i="0">
                <a:solidFill>
                  <a:srgbClr val="5A1E1B"/>
                </a:solidFill>
                <a:latin typeface="Calibri"/>
              </a:rPr>
              <a:t>Easiest – Harees, Halwa, Machboos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2B2320"/>
                </a:solidFill>
                <a:latin typeface="Calibri"/>
              </a:rPr>
              <a:t>distinct colour &amp; texture, near-perfect boxes.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sz="140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1" i="0">
                <a:solidFill>
                  <a:srgbClr val="5A1E1B"/>
                </a:solidFill>
                <a:latin typeface="Calibri"/>
              </a:rPr>
              <a:t>Hardest – Kebab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2B2320"/>
                </a:solidFill>
                <a:latin typeface="Calibri"/>
              </a:rPr>
              <a:t>varied shapes and often several pieces, so boxes are looser (lowest mAP@50, 0.70).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endParaRPr sz="140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 i="0">
                <a:solidFill>
                  <a:srgbClr val="6E8B5A"/>
                </a:solidFill>
                <a:latin typeface="Calibri"/>
              </a:rPr>
              <a:t>Every class clears mAP@50 ≥ 0.70.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CONFUSION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Where the predictions land</a:t>
            </a:r>
          </a:p>
        </p:txBody>
      </p:sp>
      <p:pic>
        <p:nvPicPr>
          <p:cNvPr id="5" name="Picture 4" descr="confusion_matrix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096000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828800"/>
            <a:ext cx="4754880" cy="4251960"/>
          </a:xfrm>
          <a:prstGeom prst="roundRect">
            <a:avLst>
              <a:gd name="adj" fmla="val 6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0" y="2011680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HOW TO READ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487168"/>
            <a:ext cx="4297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Aft>
                <a:spcPts val="300"/>
              </a:spcAft>
            </a:pPr>
            <a:r>
              <a:rPr sz="1350" b="0" i="0">
                <a:solidFill>
                  <a:srgbClr val="2B2320"/>
                </a:solidFill>
                <a:latin typeface="Calibri"/>
              </a:rPr>
              <a:t>Columns = the true dish  ·  rows = what the model predicted.</a:t>
            </a: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endParaRPr sz="135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r>
              <a:rPr sz="1350" b="0" i="0">
                <a:solidFill>
                  <a:srgbClr val="2B2320"/>
                </a:solidFill>
                <a:latin typeface="Calibri"/>
              </a:rPr>
              <a:t>A bright diagonal = correct calls. Ours is strongly diagonal — most dishes are named right.</a:t>
            </a: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endParaRPr sz="1350" b="0" i="0">
              <a:solidFill>
                <a:srgbClr val="2B2320"/>
              </a:solidFill>
              <a:latin typeface="Calibri"/>
            </a:endParaRP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The “background” row &amp; column just mean “no object”:</a:t>
            </a: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r>
              <a:rPr sz="1300" b="0" i="0">
                <a:solidFill>
                  <a:srgbClr val="2B2320"/>
                </a:solidFill>
                <a:latin typeface="Calibri"/>
              </a:rPr>
              <a:t>•  background column — the model saw a dish that wasn’t there (false positive)</a:t>
            </a:r>
          </a:p>
          <a:p>
            <a:pPr algn="l">
              <a:lnSpc>
                <a:spcPct val="113000"/>
              </a:lnSpc>
              <a:spcAft>
                <a:spcPts val="300"/>
              </a:spcAft>
            </a:pPr>
            <a:r>
              <a:rPr sz="1300" b="0" i="0">
                <a:solidFill>
                  <a:srgbClr val="2B2320"/>
                </a:solidFill>
                <a:latin typeface="Calibri"/>
              </a:rPr>
              <a:t>•  background row — the model missed a real dish (false negative)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WHERE IT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12 documented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FAILURE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304288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Missed items (false negative)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9504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907792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07792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Wrong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93008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511296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11296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Loose box (poor localization)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96512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14800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False alarm (false positive)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50" b="1" i="0">
                <a:solidFill>
                  <a:srgbClr val="B4472E"/>
                </a:solidFill>
                <a:latin typeface="Calibri"/>
              </a:rPr>
              <a:t>The pattern: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most misses are extra pieces on a crowded plate, plus the occasional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Nakhi ↔ Luqaimat mix-up — two visually similar dishes.</a:t>
            </a:r>
          </a:p>
        </p:txBody>
      </p:sp>
      <p:pic>
        <p:nvPicPr>
          <p:cNvPr id="19" name="Picture 18" descr="Screenshot-2026-08-12-170104_jpg.rf.0367997814689e4fb68f135f91e27c9e__false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68880"/>
            <a:ext cx="5486400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4892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0" i="1">
                <a:solidFill>
                  <a:srgbClr val="8A7E76"/>
                </a:solidFill>
                <a:latin typeface="Calibri"/>
              </a:rPr>
              <a:t>Ground truth (left) vs prediction (right): missed pieces on a crowded plate.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NEXT ROUND (V2)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Let the failures decide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1671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185415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848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Crowded / multi-item 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96312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fixes the missed pieces (the #1 failure)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2960" y="3337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355848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55263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More Nakhi &amp; Luqaimat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666744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clearer, balanced examples to end the mix-ups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06824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50799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256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More Kebab variety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837176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different shapes &amp; servings to tighten its boxes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Then: re-label as Roboflow v2  →  retrain  →  compare v1 vs v2.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8A7E76"/>
                </a:solidFill>
                <a:latin typeface="Calibri"/>
              </a:rPr>
              <a:t>v1 is complete; this targeted second collection is the next step.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Easiest class?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Harees / Halwa / Machboos — bold colour, single clear portion (mAP@50-95 ≈ 0.99).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53512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Hardest class?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Kebab — varied shapes, often several pieces, resembles other grilled meat (mAP@50 0.70).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23944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Did more images always help?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To be measured in the v2 round — diverse data matters more than sheer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94376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Most useful variation?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Varied plates, angles &amp; lighting — the model reaches 0.91 recall on unseen photos.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783080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Most common failure mode?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False negatives — missing extra pieces on crowded, multi-item plates.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953512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Overfit to a plate / camera?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No severe overfit — strong unseen-test scores; watch classes from similar screenshots.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123944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One more day of data?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Crowded plates, more Nakhi &amp; Luqaimat, and more Kebab variety.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294376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Before real deployment?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More real-world phones &amp; lighting, tune the confidence threshold, add a user-feedback loop.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BF6EF"/>
                </a:solidFill>
                <a:latin typeface="Cambria"/>
              </a:rPr>
              <a:t>Demo &amp;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554480"/>
            <a:ext cx="3291840" cy="27432"/>
          </a:xfrm>
          <a:prstGeom prst="roundRect">
            <a:avLst>
              <a:gd name="adj" fmla="val 1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E7D9C7"/>
                </a:solidFill>
                <a:latin typeface="Calibri"/>
              </a:rPr>
              <a:t>Live demo:  a Streamlit web app (upload a photo) and a webcam notebook that boxes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E7D9C7"/>
                </a:solidFill>
                <a:latin typeface="Calibri"/>
              </a:rPr>
              <a:t>Bahraini dishes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3832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32552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Built the full CV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657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collect → label → fine-tune → evaluate → improve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2976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20" y="41696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Strong v1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720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mAP@50 0.93, recall 0.91 on unseen Bahraini food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2120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17320" y="50840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Failures point the 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4864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misses on crowded plates → clear plan for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1">
                <a:solidFill>
                  <a:srgbClr val="C9A99A"/>
                </a:solidFill>
                <a:latin typeface="Calibri"/>
              </a:rPr>
              <a:t>github.com/hymoo2002/Bahrain-Food-Detector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838</Words>
  <Application>Microsoft Office PowerPoint</Application>
  <PresentationFormat>Widescreen</PresentationFormat>
  <Paragraphs>129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Ebrahim Makki</cp:lastModifiedBy>
  <cp:revision>1</cp:revision>
  <dcterms:created xsi:type="dcterms:W3CDTF">2013-01-27T09:14:16Z</dcterms:created>
  <dcterms:modified xsi:type="dcterms:W3CDTF">2026-08-13T12:26:32Z</dcterms:modified>
  <cp:category/>
</cp:coreProperties>
</file>
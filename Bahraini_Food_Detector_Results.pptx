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 i="0">
                <a:solidFill>
                  <a:srgbClr val="FBF6EF"/>
                </a:solidFill>
                <a:latin typeface="Cambria"/>
              </a:rPr>
              <a:t>Bahraini Food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1">
                <a:solidFill>
                  <a:srgbClr val="E7D9C7"/>
                </a:solidFill>
                <a:latin typeface="Calibri"/>
              </a:rPr>
              <a:t>Teaching an AI to see local cuisine  —  YOLO26 object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114800"/>
            <a:ext cx="4754880" cy="27432"/>
          </a:xfrm>
          <a:prstGeom prst="roundRect">
            <a:avLst>
              <a:gd name="adj" fmla="val 10000"/>
            </a:avLst>
          </a:prstGeom>
          <a:solidFill>
            <a:srgbClr val="D2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E7D9C7"/>
                </a:solidFill>
                <a:latin typeface="Calibri"/>
              </a:rPr>
              <a:t>10 Bahraini dishes   ·   527 labelled images   ·   fine-tuned YOLO26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9A99A"/>
                </a:solidFill>
                <a:latin typeface="Calibri"/>
              </a:rPr>
              <a:t>Object Detection Lab  —  results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Name the dish from a photo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2B2320"/>
                </a:solidFill>
                <a:latin typeface="Calibri"/>
              </a:rPr>
              <a:t>A tourist photographs a meal — the model finds and labels the local Bahraini dishes, live.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800" b="0" i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B4472E"/>
                </a:solidFill>
                <a:latin typeface="Calibri"/>
              </a:rPr>
              <a:t>Built end-to-end:   collect → label → fine-tune → evaluate → find failures → improve →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1">
                <a:solidFill>
                  <a:srgbClr val="8A7E76"/>
                </a:solidFill>
                <a:latin typeface="Calibri"/>
              </a:rPr>
              <a:t>The challenge: many dishes look alike (Nakhi vs Luqaimat), plates hold several items, and there was no ready-made dataset — it was built from scratch.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THE 10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544568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Luqaimat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4526280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9504" y="4544568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Kebab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4526280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4544568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Fried Fish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4526280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8352" y="4544568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Balaleet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4526280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37776" y="4544568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Nakhi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94376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312664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Mattai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5294376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9504" y="5312664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Samboosa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5294376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5312664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Machboos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8352" y="5294376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8352" y="5312664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Halwa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37776" y="5294376"/>
            <a:ext cx="2084831" cy="566928"/>
          </a:xfrm>
          <a:prstGeom prst="roundRect">
            <a:avLst>
              <a:gd name="adj" fmla="val 28000"/>
            </a:avLst>
          </a:prstGeom>
          <a:solidFill>
            <a:srgbClr val="F1E4D6"/>
          </a:solidFill>
          <a:ln w="12700">
            <a:solidFill>
              <a:srgbClr val="E1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37776" y="5312664"/>
            <a:ext cx="208483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5A1E1B"/>
                </a:solidFill>
                <a:latin typeface="Calibri"/>
              </a:rPr>
              <a:t>Harees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DATASET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Built from scratch, trained on our own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383280" cy="1554480"/>
          </a:xfrm>
          <a:prstGeom prst="roundRect">
            <a:avLst>
              <a:gd name="adj" fmla="val 7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B4472E"/>
                </a:solidFill>
                <a:latin typeface="Cambria"/>
              </a:rPr>
              <a:t>527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7E76"/>
                </a:solidFill>
                <a:latin typeface="Calibri"/>
              </a:rPr>
              <a:t>original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74519"/>
            <a:ext cx="3383280" cy="1554480"/>
          </a:xfrm>
          <a:prstGeom prst="roundRect">
            <a:avLst>
              <a:gd name="adj" fmla="val 7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011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B4472E"/>
                </a:solidFill>
                <a:latin typeface="Cambr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926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7E76"/>
                </a:solidFill>
                <a:latin typeface="Calibri"/>
              </a:rPr>
              <a:t>dish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74519"/>
            <a:ext cx="3383280" cy="1554480"/>
          </a:xfrm>
          <a:prstGeom prst="roundRect">
            <a:avLst>
              <a:gd name="adj" fmla="val 7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011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B4472E"/>
                </a:solidFill>
                <a:latin typeface="Cambria"/>
              </a:rPr>
              <a:t>70/20/10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7E76"/>
                </a:solidFill>
                <a:latin typeface="Calibri"/>
              </a:rPr>
              <a:t>train / val /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0972800" cy="202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 dirty="0">
                <a:solidFill>
                  <a:srgbClr val="5A1E1B"/>
                </a:solidFill>
                <a:latin typeface="Cambria"/>
              </a:rPr>
              <a:t>Collection &amp; labelling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 dirty="0">
                <a:solidFill>
                  <a:srgbClr val="2B2320"/>
                </a:solidFill>
                <a:latin typeface="Calibri"/>
              </a:rPr>
              <a:t>Photos gathered </a:t>
            </a:r>
            <a:r>
              <a:rPr lang="en-US" sz="1550" dirty="0">
                <a:solidFill>
                  <a:srgbClr val="2B2320"/>
                </a:solidFill>
                <a:latin typeface="Calibri"/>
              </a:rPr>
              <a:t>from around the web</a:t>
            </a:r>
            <a:r>
              <a:rPr sz="1550" b="0" i="0" dirty="0">
                <a:solidFill>
                  <a:srgbClr val="2B2320"/>
                </a:solidFill>
                <a:latin typeface="Calibri"/>
              </a:rPr>
              <a:t>,</a:t>
            </a:r>
            <a:r>
              <a:rPr lang="en-US" sz="1550" b="0" i="0" dirty="0">
                <a:solidFill>
                  <a:srgbClr val="2B2320"/>
                </a:solidFill>
                <a:latin typeface="Calibri"/>
              </a:rPr>
              <a:t> with</a:t>
            </a:r>
            <a:r>
              <a:rPr sz="1550" b="0" i="0" dirty="0">
                <a:solidFill>
                  <a:srgbClr val="2B2320"/>
                </a:solidFill>
                <a:latin typeface="Calibri"/>
              </a:rPr>
              <a:t> angles and lighting</a:t>
            </a:r>
            <a:r>
              <a:rPr lang="en-US" sz="1550" b="0" i="0" dirty="0">
                <a:solidFill>
                  <a:srgbClr val="2B2320"/>
                </a:solidFill>
                <a:latin typeface="Calibri"/>
              </a:rPr>
              <a:t> variation</a:t>
            </a:r>
            <a:r>
              <a:rPr sz="1550" b="0" i="0" dirty="0">
                <a:solidFill>
                  <a:srgbClr val="2B2320"/>
                </a:solidFill>
                <a:latin typeface="Calibri"/>
              </a:rPr>
              <a:t>, then bounding-boxed in </a:t>
            </a:r>
            <a:r>
              <a:rPr sz="1550" b="0" i="0" dirty="0" err="1">
                <a:solidFill>
                  <a:srgbClr val="2B2320"/>
                </a:solidFill>
                <a:latin typeface="Calibri"/>
              </a:rPr>
              <a:t>Roboflow</a:t>
            </a:r>
            <a:r>
              <a:rPr sz="1550" b="0" i="0" dirty="0">
                <a:solidFill>
                  <a:srgbClr val="2B2320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55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 dirty="0">
                <a:solidFill>
                  <a:srgbClr val="5A1E1B"/>
                </a:solidFill>
                <a:latin typeface="Cambria"/>
              </a:rPr>
              <a:t>Training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 dirty="0">
                <a:solidFill>
                  <a:srgbClr val="2B2320"/>
                </a:solidFill>
                <a:latin typeface="Calibri"/>
              </a:rPr>
              <a:t>YOLO26 fine-tuned on our own labelled dataset </a:t>
            </a:r>
            <a:r>
              <a:rPr lang="en-US" sz="1550" b="0" i="0" dirty="0">
                <a:solidFill>
                  <a:srgbClr val="2B2320"/>
                </a:solidFill>
                <a:latin typeface="Calibri"/>
              </a:rPr>
              <a:t>- </a:t>
            </a:r>
            <a:r>
              <a:rPr sz="1550" b="0" i="0" dirty="0">
                <a:solidFill>
                  <a:srgbClr val="2B2320"/>
                </a:solidFill>
                <a:latin typeface="Calibri"/>
              </a:rPr>
              <a:t>the training set only,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 dirty="0">
                <a:solidFill>
                  <a:srgbClr val="2B2320"/>
                </a:solidFill>
                <a:latin typeface="Calibri"/>
              </a:rPr>
              <a:t>with a completely unseen test set kept aside for the final scores below.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RESULTS — UNSEEN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Strong out of the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5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427" y="18470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6E8B5A"/>
                </a:solidFill>
                <a:latin typeface="Cambria"/>
              </a:rPr>
              <a:t>0.93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427" y="2816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320"/>
                </a:solidFill>
                <a:latin typeface="Calibri"/>
              </a:rPr>
              <a:t>mAP@50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9787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5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29787" y="18470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D2922B"/>
                </a:solidFill>
                <a:latin typeface="Cambria"/>
              </a:rPr>
              <a:t>0.69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9787" y="2816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320"/>
                </a:solidFill>
                <a:latin typeface="Calibri"/>
              </a:rPr>
              <a:t>mAP@50-95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5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0147" y="18470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6E8B5A"/>
                </a:solidFill>
                <a:latin typeface="Cambria"/>
              </a:rPr>
              <a:t>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2816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320"/>
                </a:solidFill>
                <a:latin typeface="Calibri"/>
              </a:rPr>
              <a:t>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0507" y="173736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5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0507" y="184708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B4472E"/>
                </a:solidFill>
                <a:latin typeface="Cambria"/>
              </a:rPr>
              <a:t>0.74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0507" y="2816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320"/>
                </a:solidFill>
                <a:latin typeface="Calibri"/>
              </a:rPr>
              <a:t>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10908792" cy="1325880"/>
          </a:xfrm>
          <a:prstGeom prst="roundRect">
            <a:avLst>
              <a:gd name="adj" fmla="val 6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393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B4472E"/>
                </a:solidFill>
                <a:latin typeface="Calibri"/>
              </a:rPr>
              <a:t>WHAT THE SHORTCUTS MEAN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320"/>
                </a:solidFill>
                <a:latin typeface="Calibri"/>
              </a:rPr>
              <a:t>mAP = mean Average Precision — overall detection score (0–1).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320"/>
                </a:solidFill>
                <a:latin typeface="Calibri"/>
              </a:rPr>
              <a:t>IoU = overlap between a predicted box and the true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2336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320"/>
                </a:solidFill>
                <a:latin typeface="Calibri"/>
              </a:rPr>
              <a:t>@50 = boxes overlap ≥ 50%;  @50–95 = averaged 50–95%.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320"/>
                </a:solidFill>
                <a:latin typeface="Calibri"/>
              </a:rPr>
              <a:t>Recall = real dishes found.   Precision = detections correct.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B4472E"/>
                </a:solidFill>
                <a:latin typeface="Calibri"/>
              </a:rPr>
              <a:t>In short: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0" i="0">
                <a:solidFill>
                  <a:srgbClr val="2B2320"/>
                </a:solidFill>
                <a:latin typeface="Calibri"/>
              </a:rPr>
              <a:t>the detector finds ~91% of the dishes and localizes them well (mAP@50 0.93) on photos it never saw.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1">
                <a:solidFill>
                  <a:srgbClr val="8A7E76"/>
                </a:solidFill>
                <a:latin typeface="Calibri"/>
              </a:rPr>
              <a:t>Averaged across all 10 classes on the held-out test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PER-CLASS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Some dishes are easier than others</a:t>
            </a:r>
          </a:p>
        </p:txBody>
      </p:sp>
      <p:pic>
        <p:nvPicPr>
          <p:cNvPr id="5" name="Picture 4" descr="chart_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56089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920240"/>
            <a:ext cx="4251960" cy="4114800"/>
          </a:xfrm>
          <a:prstGeom prst="roundRect">
            <a:avLst>
              <a:gd name="adj" fmla="val 6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1488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READING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06040"/>
            <a:ext cx="3749039" cy="23773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 i="0" dirty="0">
                <a:solidFill>
                  <a:srgbClr val="5A1E1B"/>
                </a:solidFill>
                <a:latin typeface="Calibri"/>
              </a:rPr>
              <a:t>Easiest – Harees, Halwa, </a:t>
            </a:r>
            <a:r>
              <a:rPr sz="1550" b="1" i="0" dirty="0" err="1">
                <a:solidFill>
                  <a:srgbClr val="5A1E1B"/>
                </a:solidFill>
                <a:latin typeface="Calibri"/>
              </a:rPr>
              <a:t>Machboos</a:t>
            </a:r>
            <a:endParaRPr sz="1550" b="1" i="0" dirty="0">
              <a:solidFill>
                <a:srgbClr val="5A1E1B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B2320"/>
                </a:solidFill>
                <a:latin typeface="Calibri"/>
              </a:rPr>
              <a:t>distinct </a:t>
            </a:r>
            <a:r>
              <a:rPr sz="1400" b="0" i="0" dirty="0" err="1">
                <a:solidFill>
                  <a:srgbClr val="2B2320"/>
                </a:solidFill>
                <a:latin typeface="Calibri"/>
              </a:rPr>
              <a:t>colour</a:t>
            </a:r>
            <a:r>
              <a:rPr sz="1400" b="0" i="0" dirty="0">
                <a:solidFill>
                  <a:srgbClr val="2B2320"/>
                </a:solidFill>
                <a:latin typeface="Calibri"/>
              </a:rPr>
              <a:t> &amp; texture, near-perfect boxes.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40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 i="0" dirty="0">
                <a:solidFill>
                  <a:srgbClr val="5A1E1B"/>
                </a:solidFill>
                <a:latin typeface="Calibri"/>
              </a:rPr>
              <a:t>Hardest – </a:t>
            </a:r>
            <a:r>
              <a:rPr lang="en-US" sz="1550" b="1" i="0" dirty="0" err="1">
                <a:solidFill>
                  <a:srgbClr val="5A1E1B"/>
                </a:solidFill>
                <a:latin typeface="Calibri"/>
              </a:rPr>
              <a:t>Luqaimat</a:t>
            </a:r>
            <a:endParaRPr sz="1550" b="1" i="0" dirty="0">
              <a:solidFill>
                <a:srgbClr val="5A1E1B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400" b="0" i="0" dirty="0">
                <a:solidFill>
                  <a:srgbClr val="2B2320"/>
                </a:solidFill>
                <a:latin typeface="Calibri"/>
              </a:rPr>
              <a:t>Because it is very similar to a different class which is Nakhi. </a:t>
            </a:r>
            <a:endParaRPr sz="140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40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i="0" dirty="0">
                <a:solidFill>
                  <a:srgbClr val="6E8B5A"/>
                </a:solidFill>
                <a:latin typeface="Calibri"/>
              </a:rPr>
              <a:t>Every class clears mAP@50 ≥ 0.70.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782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Where the predictions land</a:t>
            </a:r>
          </a:p>
        </p:txBody>
      </p:sp>
      <p:pic>
        <p:nvPicPr>
          <p:cNvPr id="5" name="Picture 4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096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828800"/>
            <a:ext cx="4754880" cy="4251960"/>
          </a:xfrm>
          <a:prstGeom prst="roundRect">
            <a:avLst>
              <a:gd name="adj" fmla="val 6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20116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HOW TO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87168"/>
            <a:ext cx="4297680" cy="26234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Aft>
                <a:spcPts val="300"/>
              </a:spcAft>
            </a:pPr>
            <a:r>
              <a:rPr lang="en-US" sz="1350" b="0" i="0" dirty="0">
                <a:solidFill>
                  <a:srgbClr val="2B2320"/>
                </a:solidFill>
                <a:latin typeface="Calibri"/>
              </a:rPr>
              <a:t>X</a:t>
            </a:r>
            <a:r>
              <a:rPr sz="1350" b="0" i="0" dirty="0">
                <a:solidFill>
                  <a:srgbClr val="2B2320"/>
                </a:solidFill>
                <a:latin typeface="Calibri"/>
              </a:rPr>
              <a:t> = the true dish  ·  </a:t>
            </a:r>
            <a:r>
              <a:rPr lang="en-US" sz="1350" b="0" i="0" dirty="0">
                <a:solidFill>
                  <a:srgbClr val="2B2320"/>
                </a:solidFill>
                <a:latin typeface="Calibri"/>
              </a:rPr>
              <a:t>Y</a:t>
            </a:r>
            <a:r>
              <a:rPr sz="1350" b="0" i="0" dirty="0">
                <a:solidFill>
                  <a:srgbClr val="2B2320"/>
                </a:solidFill>
                <a:latin typeface="Calibri"/>
              </a:rPr>
              <a:t> = what the model predicted.</a:t>
            </a: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endParaRPr sz="135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r>
              <a:rPr sz="1350" b="0" i="0" dirty="0">
                <a:solidFill>
                  <a:srgbClr val="2B2320"/>
                </a:solidFill>
                <a:latin typeface="Calibri"/>
              </a:rPr>
              <a:t>A bright diagonal = correct calls. Ours is strongly diagonal — most dishes are named right.</a:t>
            </a: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endParaRPr sz="1350" b="0" i="0" dirty="0">
              <a:solidFill>
                <a:srgbClr val="2B2320"/>
              </a:solidFill>
              <a:latin typeface="Calibri"/>
            </a:endParaRP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r>
              <a:rPr sz="1350" b="1" i="0" dirty="0">
                <a:solidFill>
                  <a:srgbClr val="5A1E1B"/>
                </a:solidFill>
                <a:latin typeface="Calibri"/>
              </a:rPr>
              <a:t>The “background” row &amp; column just mean “no object”:</a:t>
            </a: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r>
              <a:rPr sz="1300" b="0" i="0" dirty="0">
                <a:solidFill>
                  <a:srgbClr val="2B2320"/>
                </a:solidFill>
                <a:latin typeface="Calibri"/>
              </a:rPr>
              <a:t>•  background column — the model saw a dish that wasn’t there (false positive)</a:t>
            </a:r>
          </a:p>
          <a:p>
            <a:pPr algn="l">
              <a:lnSpc>
                <a:spcPct val="113000"/>
              </a:lnSpc>
              <a:spcAft>
                <a:spcPts val="300"/>
              </a:spcAft>
            </a:pPr>
            <a:r>
              <a:rPr sz="1300" b="0" i="0" dirty="0">
                <a:solidFill>
                  <a:srgbClr val="2B2320"/>
                </a:solidFill>
                <a:latin typeface="Calibri"/>
              </a:rPr>
              <a:t>•  background row — the model missed a real dish (false negative)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WHERE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12 documented failure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FAILURE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" cy="457200"/>
          </a:xfrm>
          <a:prstGeom prst="roundRect">
            <a:avLst>
              <a:gd name="adj" fmla="val 25000"/>
            </a:avLst>
          </a:prstGeom>
          <a:solidFill>
            <a:srgbClr val="5A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548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BF6E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Missed items (false negative)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9504"/>
            <a:ext cx="548640" cy="457200"/>
          </a:xfrm>
          <a:prstGeom prst="roundRect">
            <a:avLst>
              <a:gd name="adj" fmla="val 25000"/>
            </a:avLst>
          </a:prstGeom>
          <a:solidFill>
            <a:srgbClr val="5A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07792"/>
            <a:ext cx="548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BF6E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07792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Wrong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93008"/>
            <a:ext cx="548640" cy="457200"/>
          </a:xfrm>
          <a:prstGeom prst="roundRect">
            <a:avLst>
              <a:gd name="adj" fmla="val 25000"/>
            </a:avLst>
          </a:prstGeom>
          <a:solidFill>
            <a:srgbClr val="5A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11296"/>
            <a:ext cx="548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BF6E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11296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Loose box (poor localization)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96512"/>
            <a:ext cx="548640" cy="457200"/>
          </a:xfrm>
          <a:prstGeom prst="roundRect">
            <a:avLst>
              <a:gd name="adj" fmla="val 25000"/>
            </a:avLst>
          </a:prstGeom>
          <a:solidFill>
            <a:srgbClr val="5A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548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BF6E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14800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False alarm (false positive)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577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 b="1" i="0">
                <a:solidFill>
                  <a:srgbClr val="B4472E"/>
                </a:solidFill>
                <a:latin typeface="Calibri"/>
              </a:rPr>
              <a:t>The pattern: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most misses are extra pieces on a crowded plate, plus the occasional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2B2320"/>
                </a:solidFill>
                <a:latin typeface="Calibri"/>
              </a:rPr>
              <a:t>Nakhi ↔ Luqaimat mix-up — two visually similar dishes.</a:t>
            </a:r>
          </a:p>
        </p:txBody>
      </p:sp>
      <p:pic>
        <p:nvPicPr>
          <p:cNvPr id="19" name="Picture 18" descr="Screenshot-2026-08-12-170104_jpg.rf.0367997814689e4fb68f135f91e27c9e__false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68880"/>
            <a:ext cx="5486400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892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 i="1">
                <a:solidFill>
                  <a:srgbClr val="8A7E76"/>
                </a:solidFill>
                <a:latin typeface="Calibri"/>
              </a:rPr>
              <a:t>Ground truth (left) vs prediction (right): missed pieces on a crowded plate.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472E"/>
                </a:solidFill>
                <a:latin typeface="Calibri"/>
              </a:rPr>
              <a:t>NEXT ROUND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5A1E1B"/>
                </a:solidFill>
                <a:latin typeface="Cambria"/>
              </a:rPr>
              <a:t>Let the failures decide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671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D2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85415"/>
            <a:ext cx="6035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84831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A1E1B"/>
                </a:solidFill>
                <a:latin typeface="Cambria"/>
              </a:rPr>
              <a:t>Crowded / multi-item 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963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2B2320"/>
                </a:solidFill>
                <a:latin typeface="Calibri"/>
              </a:rPr>
              <a:t>fixes the missed pieces (the #1 failure)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36391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D2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355848"/>
            <a:ext cx="6035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55263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A1E1B"/>
                </a:solidFill>
                <a:latin typeface="Cambria"/>
              </a:rPr>
              <a:t>More Nakhi &amp; Luqaimat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6674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2B2320"/>
                </a:solidFill>
                <a:latin typeface="Calibri"/>
              </a:rPr>
              <a:t>clearer, balanced examples to end the mix-ups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06824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F1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450799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D2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6035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2569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A1E1B"/>
                </a:solidFill>
                <a:latin typeface="Cambria"/>
              </a:rPr>
              <a:t>More Kebab variety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3717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2B2320"/>
                </a:solidFill>
                <a:latin typeface="Calibri"/>
              </a:rPr>
              <a:t>different shapes &amp; servings to tighten its 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320"/>
                </a:solidFill>
                <a:latin typeface="Calibri"/>
              </a:rPr>
              <a:t>Then: re-label as Roboflow v2  →  retrain  →  compare v1 vs v2.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8A7E76"/>
                </a:solidFill>
                <a:latin typeface="Calibri"/>
              </a:rPr>
              <a:t>v1 is complete; this targeted second collection is the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592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Ebrahim Makki</cp:lastModifiedBy>
  <cp:revision>2</cp:revision>
  <dcterms:created xsi:type="dcterms:W3CDTF">2013-01-27T09:14:16Z</dcterms:created>
  <dcterms:modified xsi:type="dcterms:W3CDTF">2026-08-13T13:13:06Z</dcterms:modified>
  <cp:category/>
</cp:coreProperties>
</file>